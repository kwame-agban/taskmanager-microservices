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0" r:id="rId11"/>
    <p:sldId id="265" r:id="rId12"/>
    <p:sldId id="266" r:id="rId13"/>
    <p:sldId id="271" r:id="rId14"/>
    <p:sldId id="268" r:id="rId15"/>
    <p:sldId id="269" r:id="rId16"/>
    <p:sldId id="272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02" d="100"/>
          <a:sy n="102" d="100"/>
        </p:scale>
        <p:origin x="-898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://localhost:4200/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>
                <a:solidFill>
                  <a:srgbClr val="003366"/>
                </a:solidFill>
              </a:defRPr>
            </a:pPr>
            <a:r>
              <a:t>Spring Boot Monolithique vs Microservices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282828"/>
                </a:solidFill>
              </a:defRPr>
            </a:pPr>
            <a:r>
              <a:t>Étude de cas : TaskManager Microservices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3366"/>
                </a:solidFill>
              </a:defRPr>
            </a:pPr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282828"/>
                </a:solidFill>
              </a:defRPr>
            </a:pPr>
            <a:r>
              <a:rPr dirty="0" err="1"/>
              <a:t>Comprendre</a:t>
            </a:r>
            <a:r>
              <a:rPr dirty="0"/>
              <a:t> le </a:t>
            </a:r>
            <a:r>
              <a:rPr dirty="0" err="1"/>
              <a:t>monolithe</a:t>
            </a:r>
            <a:endParaRPr dirty="0"/>
          </a:p>
          <a:p>
            <a:pPr>
              <a:defRPr>
                <a:solidFill>
                  <a:srgbClr val="282828"/>
                </a:solidFill>
              </a:defRPr>
            </a:pPr>
            <a:r>
              <a:rPr dirty="0" err="1"/>
              <a:t>Comprendre</a:t>
            </a:r>
            <a:r>
              <a:rPr dirty="0"/>
              <a:t> les </a:t>
            </a:r>
            <a:r>
              <a:rPr dirty="0" err="1"/>
              <a:t>microservices</a:t>
            </a:r>
            <a:endParaRPr dirty="0"/>
          </a:p>
          <a:p>
            <a:pPr>
              <a:defRPr>
                <a:solidFill>
                  <a:srgbClr val="282828"/>
                </a:solidFill>
              </a:defRPr>
            </a:pPr>
            <a:r>
              <a:rPr dirty="0" err="1"/>
              <a:t>Découvrir</a:t>
            </a:r>
            <a:r>
              <a:rPr dirty="0"/>
              <a:t> Spring Cloud</a:t>
            </a:r>
          </a:p>
          <a:p>
            <a:pPr>
              <a:defRPr>
                <a:solidFill>
                  <a:srgbClr val="282828"/>
                </a:solidFill>
              </a:defRPr>
            </a:pPr>
            <a:r>
              <a:rPr dirty="0" err="1"/>
              <a:t>Analyser</a:t>
            </a:r>
            <a:r>
              <a:rPr dirty="0"/>
              <a:t> </a:t>
            </a:r>
            <a:r>
              <a:rPr dirty="0" err="1"/>
              <a:t>une</a:t>
            </a:r>
            <a:r>
              <a:rPr dirty="0"/>
              <a:t> architecture </a:t>
            </a:r>
            <a:r>
              <a:rPr dirty="0" err="1"/>
              <a:t>réelle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3366"/>
                </a:solidFill>
              </a:defRPr>
            </a:pPr>
            <a:r>
              <a:t>Application Spring Boot classique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282828"/>
                </a:solidFill>
              </a:defRPr>
            </a:pPr>
            <a:r>
              <a:t>Monolithe</a:t>
            </a:r>
          </a:p>
          <a:p>
            <a:pPr>
              <a:defRPr>
                <a:solidFill>
                  <a:srgbClr val="282828"/>
                </a:solidFill>
              </a:defRPr>
            </a:pPr>
            <a:r>
              <a:t>Utilisateurs</a:t>
            </a:r>
          </a:p>
          <a:p>
            <a:pPr>
              <a:defRPr>
                <a:solidFill>
                  <a:srgbClr val="282828"/>
                </a:solidFill>
              </a:defRPr>
            </a:pPr>
            <a:r>
              <a:t>Tâches</a:t>
            </a:r>
          </a:p>
          <a:p>
            <a:pPr>
              <a:defRPr>
                <a:solidFill>
                  <a:srgbClr val="282828"/>
                </a:solidFill>
              </a:defRPr>
            </a:pPr>
            <a:r>
              <a:t>Authentification</a:t>
            </a:r>
          </a:p>
          <a:p>
            <a:pPr>
              <a:defRPr>
                <a:solidFill>
                  <a:srgbClr val="282828"/>
                </a:solidFill>
              </a:defRPr>
            </a:pPr>
            <a:r>
              <a:t>Base de données unique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3366"/>
                </a:solidFill>
              </a:defRPr>
            </a:pPr>
            <a:r>
              <a:t>Avantages du monolithe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282828"/>
                </a:solidFill>
              </a:defRPr>
            </a:pPr>
            <a:r>
              <a:t>Développement rapide</a:t>
            </a:r>
          </a:p>
          <a:p>
            <a:pPr>
              <a:defRPr>
                <a:solidFill>
                  <a:srgbClr val="282828"/>
                </a:solidFill>
              </a:defRPr>
            </a:pPr>
            <a:r>
              <a:t>Architecture simple</a:t>
            </a:r>
          </a:p>
          <a:p>
            <a:pPr>
              <a:defRPr>
                <a:solidFill>
                  <a:srgbClr val="282828"/>
                </a:solidFill>
              </a:defRPr>
            </a:pPr>
            <a:r>
              <a:t>Débogage facile</a:t>
            </a:r>
          </a:p>
          <a:p>
            <a:pPr>
              <a:defRPr>
                <a:solidFill>
                  <a:srgbClr val="282828"/>
                </a:solidFill>
              </a:defRPr>
            </a:pPr>
            <a:r>
              <a:t>Déploiement unique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3366"/>
                </a:solidFill>
              </a:defRPr>
            </a:pPr>
            <a:r>
              <a:t>Inconvénients du monolithe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282828"/>
                </a:solidFill>
              </a:defRPr>
            </a:pPr>
            <a:r>
              <a:t>Scalabilité limitée</a:t>
            </a:r>
          </a:p>
          <a:p>
            <a:pPr>
              <a:defRPr>
                <a:solidFill>
                  <a:srgbClr val="282828"/>
                </a:solidFill>
              </a:defRPr>
            </a:pPr>
            <a:r>
              <a:t>Couplage fort</a:t>
            </a:r>
          </a:p>
          <a:p>
            <a:pPr>
              <a:defRPr>
                <a:solidFill>
                  <a:srgbClr val="282828"/>
                </a:solidFill>
              </a:defRPr>
            </a:pPr>
            <a:r>
              <a:t>Maintenance difficile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3366"/>
                </a:solidFill>
              </a:defRPr>
            </a:pPr>
            <a:r>
              <a:t>Pourquoi les microservices 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282828"/>
                </a:solidFill>
              </a:defRPr>
            </a:pPr>
            <a:r>
              <a:t>Services indépendants</a:t>
            </a:r>
          </a:p>
          <a:p>
            <a:pPr>
              <a:defRPr>
                <a:solidFill>
                  <a:srgbClr val="282828"/>
                </a:solidFill>
              </a:defRPr>
            </a:pPr>
            <a:r>
              <a:t>Déploiement indépendant</a:t>
            </a:r>
          </a:p>
          <a:p>
            <a:pPr>
              <a:defRPr>
                <a:solidFill>
                  <a:srgbClr val="282828"/>
                </a:solidFill>
              </a:defRPr>
            </a:pPr>
            <a:r>
              <a:t>Scalabilité indépendante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3366"/>
                </a:solidFill>
              </a:defRPr>
            </a:pPr>
            <a:r>
              <a:t>Architecture TaskManager</a:t>
            </a: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3749" y="1487774"/>
            <a:ext cx="2465884" cy="43658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3366"/>
                </a:solidFill>
              </a:defRPr>
            </a:pPr>
            <a:r>
              <a:t>API Gateway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282828"/>
                </a:solidFill>
              </a:defRPr>
            </a:pPr>
            <a:r>
              <a:t>Point d'entrée unique</a:t>
            </a:r>
          </a:p>
          <a:p>
            <a:pPr>
              <a:defRPr>
                <a:solidFill>
                  <a:srgbClr val="282828"/>
                </a:solidFill>
              </a:defRPr>
            </a:pPr>
            <a:r>
              <a:t>Routage</a:t>
            </a:r>
          </a:p>
          <a:p>
            <a:pPr>
              <a:defRPr>
                <a:solidFill>
                  <a:srgbClr val="282828"/>
                </a:solidFill>
              </a:defRPr>
            </a:pPr>
            <a:r>
              <a:t>Sécurité</a:t>
            </a:r>
          </a:p>
          <a:p>
            <a:pPr>
              <a:defRPr>
                <a:solidFill>
                  <a:srgbClr val="282828"/>
                </a:solidFill>
              </a:defRPr>
            </a:pPr>
            <a:r>
              <a:t>Centralisation des accès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3366"/>
                </a:solidFill>
              </a:defRPr>
            </a:pPr>
            <a:r>
              <a:rPr dirty="0"/>
              <a:t>Eureka Discovery Server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282828"/>
                </a:solidFill>
              </a:defRPr>
            </a:pPr>
            <a:r>
              <a:t>Enregistrement des services</a:t>
            </a:r>
          </a:p>
          <a:p>
            <a:pPr>
              <a:defRPr>
                <a:solidFill>
                  <a:srgbClr val="282828"/>
                </a:solidFill>
              </a:defRPr>
            </a:pPr>
            <a:r>
              <a:t>Découverte dynamique</a:t>
            </a:r>
          </a:p>
          <a:p>
            <a:pPr>
              <a:defRPr>
                <a:solidFill>
                  <a:srgbClr val="282828"/>
                </a:solidFill>
              </a:defRPr>
            </a:pPr>
            <a:r>
              <a:t>Tolérance aux changements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err="1" smtClean="0">
                <a:solidFill>
                  <a:srgbClr val="002060"/>
                </a:solidFill>
              </a:rPr>
              <a:t>Spring</a:t>
            </a:r>
            <a:r>
              <a:rPr lang="fr-FR" b="1" dirty="0" smtClean="0">
                <a:solidFill>
                  <a:srgbClr val="002060"/>
                </a:solidFill>
              </a:rPr>
              <a:t> cloud</a:t>
            </a:r>
            <a:endParaRPr lang="fr-FR" b="1" dirty="0">
              <a:solidFill>
                <a:srgbClr val="00206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smtClean="0"/>
              <a:t>Complète </a:t>
            </a:r>
            <a:r>
              <a:rPr lang="fr-FR" dirty="0" err="1" smtClean="0"/>
              <a:t>Spring</a:t>
            </a:r>
            <a:r>
              <a:rPr lang="fr-FR" dirty="0" smtClean="0"/>
              <a:t> boot avec les fonctionnalités nécessaires aux </a:t>
            </a:r>
            <a:r>
              <a:rPr lang="fr-FR" dirty="0" err="1" smtClean="0"/>
              <a:t>microservices</a:t>
            </a:r>
            <a:endParaRPr lang="fr-FR" dirty="0" smtClean="0"/>
          </a:p>
          <a:p>
            <a:r>
              <a:rPr lang="fr-FR" dirty="0" smtClean="0"/>
              <a:t>Découverte des services avec Eureka </a:t>
            </a:r>
            <a:r>
              <a:rPr lang="fr-FR" dirty="0" err="1" smtClean="0"/>
              <a:t>Discovery</a:t>
            </a:r>
            <a:endParaRPr lang="fr-FR" dirty="0" smtClean="0"/>
          </a:p>
          <a:p>
            <a:r>
              <a:rPr lang="fr-FR" dirty="0" smtClean="0"/>
              <a:t>Centralisation des accès grâce à l’API Gateway</a:t>
            </a:r>
          </a:p>
          <a:p>
            <a:r>
              <a:rPr lang="fr-FR" dirty="0" smtClean="0"/>
              <a:t>Gestion de la configuration avec Config Server 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127610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3366"/>
                </a:solidFill>
              </a:defRPr>
            </a:pPr>
            <a:r>
              <a:t>Communication entre 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282828"/>
                </a:solidFill>
              </a:defRPr>
            </a:pPr>
            <a:r>
              <a:t>RestTemplate</a:t>
            </a:r>
          </a:p>
          <a:p>
            <a:pPr>
              <a:defRPr>
                <a:solidFill>
                  <a:srgbClr val="282828"/>
                </a:solidFill>
              </a:defRPr>
            </a:pPr>
            <a:r>
              <a:t>WebClient</a:t>
            </a:r>
          </a:p>
          <a:p>
            <a:pPr>
              <a:defRPr>
                <a:solidFill>
                  <a:srgbClr val="282828"/>
                </a:solidFill>
              </a:defRPr>
            </a:pPr>
            <a:r>
              <a:t>OpenFeign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 b="1">
                <a:solidFill>
                  <a:srgbClr val="003366"/>
                </a:solidFill>
              </a:defRPr>
            </a:pPr>
            <a:r>
              <a:t>Comparaison Monolithe vs Microservices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282828"/>
                </a:solidFill>
              </a:defRPr>
            </a:pPr>
            <a:r>
              <a:rPr dirty="0" err="1"/>
              <a:t>Monolithe</a:t>
            </a:r>
            <a:r>
              <a:rPr dirty="0"/>
              <a:t> : simple</a:t>
            </a:r>
          </a:p>
          <a:p>
            <a:pPr>
              <a:defRPr>
                <a:solidFill>
                  <a:srgbClr val="282828"/>
                </a:solidFill>
              </a:defRPr>
            </a:pPr>
            <a:r>
              <a:rPr dirty="0" err="1"/>
              <a:t>Microservices</a:t>
            </a:r>
            <a:r>
              <a:rPr dirty="0"/>
              <a:t> : scalable et flexible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151" y="2999229"/>
            <a:ext cx="8342026" cy="26295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b="1" dirty="0" smtClean="0">
                <a:solidFill>
                  <a:srgbClr val="002060"/>
                </a:solidFill>
              </a:rPr>
              <a:t>Présentation de l’application </a:t>
            </a:r>
            <a:r>
              <a:rPr lang="fr-FR" b="1" dirty="0" err="1" smtClean="0">
                <a:solidFill>
                  <a:srgbClr val="002060"/>
                </a:solidFill>
              </a:rPr>
              <a:t>TaskManager</a:t>
            </a:r>
            <a:endParaRPr lang="fr-FR" b="1" dirty="0">
              <a:solidFill>
                <a:srgbClr val="00206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800" dirty="0"/>
              <a:t>Application </a:t>
            </a:r>
            <a:r>
              <a:rPr lang="en-GB" sz="2800" dirty="0" err="1"/>
              <a:t>dévellopée</a:t>
            </a:r>
            <a:r>
              <a:rPr lang="en-GB" sz="2800" dirty="0"/>
              <a:t> </a:t>
            </a:r>
            <a:r>
              <a:rPr lang="en-GB" sz="2800" dirty="0" err="1"/>
              <a:t>en</a:t>
            </a:r>
            <a:r>
              <a:rPr lang="en-GB" sz="2800" dirty="0"/>
              <a:t> Spring boot, spring cloud, Angular, </a:t>
            </a:r>
            <a:r>
              <a:rPr lang="en-GB" sz="2800" dirty="0" err="1"/>
              <a:t>typeScript</a:t>
            </a:r>
            <a:r>
              <a:rPr lang="en-GB" sz="2800" dirty="0"/>
              <a:t> et base H2</a:t>
            </a:r>
            <a:endParaRPr lang="fr-FR" sz="2800" dirty="0"/>
          </a:p>
          <a:p>
            <a:r>
              <a:rPr lang="fr-FR" sz="2800" dirty="0"/>
              <a:t>Base de données utilisée : H2 dont l’url est : http://localhost:8081/h2-console</a:t>
            </a:r>
          </a:p>
          <a:p>
            <a:endParaRPr lang="fr-FR" dirty="0"/>
          </a:p>
        </p:txBody>
      </p:sp>
      <p:pic>
        <p:nvPicPr>
          <p:cNvPr id="4" name="Image 3"/>
          <p:cNvPicPr/>
          <p:nvPr/>
        </p:nvPicPr>
        <p:blipFill>
          <a:blip r:embed="rId2"/>
          <a:stretch>
            <a:fillRect/>
          </a:stretch>
        </p:blipFill>
        <p:spPr>
          <a:xfrm>
            <a:off x="740971" y="3635116"/>
            <a:ext cx="7166339" cy="2788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08973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 smtClean="0"/>
              <a:t>Code java de </a:t>
            </a:r>
            <a:r>
              <a:rPr lang="fr-FR" dirty="0" err="1" smtClean="0"/>
              <a:t>Taskmanager</a:t>
            </a:r>
            <a:r>
              <a:rPr lang="fr-FR" dirty="0" smtClean="0"/>
              <a:t> sous </a:t>
            </a:r>
            <a:r>
              <a:rPr lang="fr-FR" dirty="0" err="1" smtClean="0"/>
              <a:t>IntelliJ</a:t>
            </a:r>
            <a:endParaRPr lang="fr-FR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0143" y="1600200"/>
            <a:ext cx="6750027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04925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Démonstration </a:t>
            </a:r>
            <a:r>
              <a:rPr lang="fr-FR" dirty="0" smtClean="0"/>
              <a:t>de </a:t>
            </a:r>
            <a:r>
              <a:rPr lang="fr-FR" dirty="0" err="1" smtClean="0"/>
              <a:t>TaskManager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dirty="0" smtClean="0"/>
              <a:t>Démarrage : </a:t>
            </a:r>
            <a:r>
              <a:rPr lang="fr-FR" dirty="0" err="1" smtClean="0"/>
              <a:t>ng</a:t>
            </a:r>
            <a:r>
              <a:rPr lang="fr-FR" dirty="0" smtClean="0"/>
              <a:t> serve</a:t>
            </a:r>
            <a:r>
              <a:rPr lang="fr-FR" dirty="0"/>
              <a:t>;</a:t>
            </a:r>
            <a:r>
              <a:rPr lang="fr-FR" dirty="0" smtClean="0"/>
              <a:t> Url = </a:t>
            </a:r>
            <a:r>
              <a:rPr lang="fr-FR" sz="2800" dirty="0">
                <a:hlinkClick r:id="rId2"/>
              </a:rPr>
              <a:t>http://</a:t>
            </a:r>
            <a:r>
              <a:rPr lang="fr-FR" sz="2800" dirty="0" smtClean="0">
                <a:hlinkClick r:id="rId2"/>
              </a:rPr>
              <a:t>localhost:4200</a:t>
            </a:r>
            <a:endParaRPr lang="fr-FR" sz="2800" dirty="0" smtClean="0"/>
          </a:p>
          <a:p>
            <a:r>
              <a:rPr lang="fr-FR" dirty="0" smtClean="0"/>
              <a:t>1</a:t>
            </a:r>
            <a:r>
              <a:rPr lang="fr-FR" dirty="0" smtClean="0"/>
              <a:t>. </a:t>
            </a:r>
            <a:r>
              <a:rPr lang="fr-FR" dirty="0" smtClean="0"/>
              <a:t>Ecran </a:t>
            </a:r>
            <a:r>
              <a:rPr lang="fr-FR" dirty="0" smtClean="0"/>
              <a:t>de connexion utilisateur</a:t>
            </a:r>
          </a:p>
          <a:p>
            <a:pPr marL="0" indent="0">
              <a:buNone/>
            </a:pPr>
            <a:endParaRPr lang="fr-FR" dirty="0" smtClean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 smtClean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 smtClean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 smtClean="0"/>
          </a:p>
          <a:p>
            <a:pPr marL="0" indent="0">
              <a:buNone/>
            </a:pPr>
            <a:endParaRPr lang="fr-FR" dirty="0" smtClean="0"/>
          </a:p>
        </p:txBody>
      </p:sp>
      <p:pic>
        <p:nvPicPr>
          <p:cNvPr id="4" name="Image 3"/>
          <p:cNvPicPr/>
          <p:nvPr/>
        </p:nvPicPr>
        <p:blipFill>
          <a:blip r:embed="rId3"/>
          <a:stretch>
            <a:fillRect/>
          </a:stretch>
        </p:blipFill>
        <p:spPr>
          <a:xfrm>
            <a:off x="909318" y="3080478"/>
            <a:ext cx="3175502" cy="2908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1551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43161" y="628550"/>
            <a:ext cx="501631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3200" dirty="0"/>
              <a:t>2. Ecran de gestion </a:t>
            </a:r>
            <a:r>
              <a:rPr lang="fr-FR" sz="3200" dirty="0" smtClean="0"/>
              <a:t>de tâches</a:t>
            </a:r>
            <a:endParaRPr lang="fr-FR" sz="3200" dirty="0"/>
          </a:p>
        </p:txBody>
      </p:sp>
      <p:pic>
        <p:nvPicPr>
          <p:cNvPr id="3" name="Image 2"/>
          <p:cNvPicPr/>
          <p:nvPr/>
        </p:nvPicPr>
        <p:blipFill>
          <a:blip r:embed="rId2"/>
          <a:stretch>
            <a:fillRect/>
          </a:stretch>
        </p:blipFill>
        <p:spPr>
          <a:xfrm>
            <a:off x="936427" y="1427479"/>
            <a:ext cx="5847080" cy="4231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99564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3366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282828"/>
                </a:solidFill>
              </a:defRPr>
            </a:pPr>
            <a:r>
              <a:t>Spring Boot + Spring Cloud = architecture moderne et évolutive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205</Words>
  <Application>Microsoft Office PowerPoint</Application>
  <PresentationFormat>Affichage à l'écran (4:3)</PresentationFormat>
  <Paragraphs>64</Paragraphs>
  <Slides>17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17</vt:i4>
      </vt:variant>
    </vt:vector>
  </HeadingPairs>
  <TitlesOfParts>
    <vt:vector size="18" baseType="lpstr">
      <vt:lpstr>Office Theme</vt:lpstr>
      <vt:lpstr>Spring Boot Monolithique vs Microservices</vt:lpstr>
      <vt:lpstr>Objectifs</vt:lpstr>
      <vt:lpstr>Application Spring Boot classique</vt:lpstr>
      <vt:lpstr>Avantages du monolithe</vt:lpstr>
      <vt:lpstr>Inconvénients du monolithe</vt:lpstr>
      <vt:lpstr>Pourquoi les microservices ?</vt:lpstr>
      <vt:lpstr>Architecture TaskManager</vt:lpstr>
      <vt:lpstr>API Gateway</vt:lpstr>
      <vt:lpstr>Eureka Discovery Server</vt:lpstr>
      <vt:lpstr>Spring cloud</vt:lpstr>
      <vt:lpstr>Communication entre services</vt:lpstr>
      <vt:lpstr>Comparaison Monolithe vs Microservices</vt:lpstr>
      <vt:lpstr>Présentation de l’application TaskManager</vt:lpstr>
      <vt:lpstr>Code java de Taskmanager sous IntelliJ</vt:lpstr>
      <vt:lpstr>Démonstration de TaskManager</vt:lpstr>
      <vt:lpstr>Présentation PowerPoint</vt:lpstr>
      <vt:lpstr>Conclusion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Spring Boot Monolithique vs Microservices</dc:title>
  <dc:subject/>
  <dc:creator/>
  <cp:keywords/>
  <dc:description>generated using python-pptx</dc:description>
  <cp:lastModifiedBy>hp</cp:lastModifiedBy>
  <cp:revision>7</cp:revision>
  <dcterms:created xsi:type="dcterms:W3CDTF">2013-01-27T09:14:16Z</dcterms:created>
  <dcterms:modified xsi:type="dcterms:W3CDTF">2026-06-24T15:06:06Z</dcterms:modified>
  <cp:category/>
</cp:coreProperties>
</file>